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Raleway"/>
      <p:regular r:id="rId45"/>
      <p:bold r:id="rId46"/>
      <p:italic r:id="rId47"/>
      <p:boldItalic r:id="rId48"/>
    </p:embeddedFont>
    <p:embeddedFont>
      <p:font typeface="Press Start 2P"/>
      <p:regular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0" roundtripDataSignature="AMtx7mjiwhKgzD2oKYPqxInu39H5ES3t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aleway-bold.fntdata"/><Relationship Id="rId45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aleway-boldItalic.fntdata"/><Relationship Id="rId47" Type="http://schemas.openxmlformats.org/officeDocument/2006/relationships/font" Target="fonts/Raleway-italic.fntdata"/><Relationship Id="rId49" Type="http://schemas.openxmlformats.org/officeDocument/2006/relationships/font" Target="fonts/PressStart2P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ad85344e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4ad85344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4a4436371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4a4436371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hyperlink" Target="https://www.geeksforgeeks.org/cpp-data-types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hyperlink" Target="https://bit.ly/Bit5et_SI" TargetMode="External"/><Relationship Id="rId5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hyperlink" Target="https://bit.ly/4immeaQ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17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Relationship Id="rId4" Type="http://schemas.openxmlformats.org/officeDocument/2006/relationships/image" Target="../media/image13.jpg"/><Relationship Id="rId5" Type="http://schemas.openxmlformats.org/officeDocument/2006/relationships/hyperlink" Target="https://bit.ly/4i4R5bv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3302" y="4259565"/>
            <a:ext cx="22669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4375" y="536775"/>
            <a:ext cx="2835250" cy="37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6"/>
            <a:ext cx="9143860" cy="514318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>
            <p:ph type="ctrTitle"/>
          </p:nvPr>
        </p:nvSpPr>
        <p:spPr>
          <a:xfrm>
            <a:off x="3528249" y="2082950"/>
            <a:ext cx="25848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Why?</a:t>
            </a:r>
            <a:endParaRPr sz="40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6"/>
            <a:ext cx="9143860" cy="514318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 txBox="1"/>
          <p:nvPr>
            <p:ph type="ctrTitle"/>
          </p:nvPr>
        </p:nvSpPr>
        <p:spPr>
          <a:xfrm>
            <a:off x="311700" y="2066287"/>
            <a:ext cx="8520600" cy="10109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</a:t>
            </a:r>
            <a:r>
              <a:rPr lang="en" sz="4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</a:t>
            </a:r>
            <a:r>
              <a:rPr lang="en" sz="4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t’s Begin</a:t>
            </a:r>
            <a:endParaRPr sz="40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18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/>
          <p:nvPr/>
        </p:nvSpPr>
        <p:spPr>
          <a:xfrm>
            <a:off x="718650" y="2248500"/>
            <a:ext cx="7580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PRINT “HELLO WORLD”    IN C++</a:t>
            </a:r>
            <a:endParaRPr b="0" i="0" sz="3000" u="none" cap="none" strike="noStrike">
              <a:solidFill>
                <a:srgbClr val="FFFFFF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 txBox="1"/>
          <p:nvPr/>
        </p:nvSpPr>
        <p:spPr>
          <a:xfrm>
            <a:off x="7789270" y="4335650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710175" y="449420"/>
            <a:ext cx="5244900" cy="4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#include&lt;bits/stdc++.h&gt;  </a:t>
            </a:r>
            <a:endParaRPr b="0" i="0" sz="28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using namespace std;</a:t>
            </a:r>
            <a:endParaRPr b="0" i="0" sz="28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int main()</a:t>
            </a:r>
            <a:endParaRPr b="0" i="0" sz="28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28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	cout &lt;&lt; "Hello World";</a:t>
            </a:r>
            <a:endParaRPr b="0" i="0" sz="28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	return 0;</a:t>
            </a:r>
            <a:endParaRPr b="0" i="0" sz="28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28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6488550" y="2020550"/>
            <a:ext cx="2331600" cy="990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Hello World</a:t>
            </a:r>
            <a:endParaRPr b="0" i="0" sz="24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5500" y="1254138"/>
            <a:ext cx="5228300" cy="2635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 txBox="1"/>
          <p:nvPr/>
        </p:nvSpPr>
        <p:spPr>
          <a:xfrm>
            <a:off x="1911400" y="489225"/>
            <a:ext cx="50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sng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 After Printing ”Hello World” !!</a:t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1701100" y="3965700"/>
            <a:ext cx="53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7767780" y="4373160"/>
            <a:ext cx="52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6"/>
            <a:ext cx="9143860" cy="5143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8"/>
          <p:cNvSpPr txBox="1"/>
          <p:nvPr>
            <p:ph type="ctrTitle"/>
          </p:nvPr>
        </p:nvSpPr>
        <p:spPr>
          <a:xfrm>
            <a:off x="214758" y="10866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DATA TYPES</a:t>
            </a:r>
            <a:endParaRPr sz="40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7785013" y="4340409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"/>
          <p:cNvSpPr txBox="1"/>
          <p:nvPr/>
        </p:nvSpPr>
        <p:spPr>
          <a:xfrm>
            <a:off x="893700" y="277227"/>
            <a:ext cx="6462600" cy="34722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Data Type is the type of data or information we are going to store in the variable. </a:t>
            </a:r>
            <a:endParaRPr b="0" i="0" sz="2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E.g:-</a:t>
            </a:r>
            <a:r>
              <a:rPr b="1" i="0" lang="en" sz="2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 int, float, char, string, long long int</a:t>
            </a:r>
            <a:r>
              <a:rPr b="0" i="0" lang="en" sz="2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 etc.</a:t>
            </a:r>
            <a:endParaRPr b="0" i="0" sz="2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E.g.  int x = 10;</a:t>
            </a:r>
            <a:endParaRPr b="0" i="0" sz="2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893700" y="3741405"/>
            <a:ext cx="7610633" cy="5706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200" u="sng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https://www.geeksforgeeks.org/cpp-data-types/</a:t>
            </a: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" name="Google Shape;111;p9"/>
          <p:cNvSpPr txBox="1"/>
          <p:nvPr/>
        </p:nvSpPr>
        <p:spPr>
          <a:xfrm>
            <a:off x="1349425" y="2571755"/>
            <a:ext cx="142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Datatype</a:t>
            </a:r>
            <a:endParaRPr b="0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" name="Google Shape;112;p9"/>
          <p:cNvSpPr txBox="1"/>
          <p:nvPr/>
        </p:nvSpPr>
        <p:spPr>
          <a:xfrm>
            <a:off x="2633550" y="2571755"/>
            <a:ext cx="142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Variable</a:t>
            </a:r>
            <a:endParaRPr b="0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13" name="Google Shape;113;p9"/>
          <p:cNvCxnSpPr/>
          <p:nvPr/>
        </p:nvCxnSpPr>
        <p:spPr>
          <a:xfrm rot="10800000">
            <a:off x="1968175" y="2906990"/>
            <a:ext cx="190800" cy="290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4" name="Google Shape;114;p9"/>
          <p:cNvCxnSpPr/>
          <p:nvPr/>
        </p:nvCxnSpPr>
        <p:spPr>
          <a:xfrm flipH="1" rot="10800000">
            <a:off x="2633550" y="2869800"/>
            <a:ext cx="245400" cy="36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 txBox="1"/>
          <p:nvPr>
            <p:ph type="ctrTitle"/>
          </p:nvPr>
        </p:nvSpPr>
        <p:spPr>
          <a:xfrm>
            <a:off x="397020" y="284926"/>
            <a:ext cx="4974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endParaRPr b="1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10"/>
          <p:cNvPicPr preferRelativeResize="0"/>
          <p:nvPr/>
        </p:nvPicPr>
        <p:blipFill rotWithShape="1">
          <a:blip r:embed="rId4">
            <a:alphaModFix/>
          </a:blip>
          <a:srcRect b="4587" l="0" r="0" t="0"/>
          <a:stretch/>
        </p:blipFill>
        <p:spPr>
          <a:xfrm>
            <a:off x="1226640" y="797626"/>
            <a:ext cx="6535800" cy="33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0"/>
          <p:cNvSpPr txBox="1"/>
          <p:nvPr/>
        </p:nvSpPr>
        <p:spPr>
          <a:xfrm>
            <a:off x="7762440" y="4345874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6"/>
            <a:ext cx="9143860" cy="5143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 txBox="1"/>
          <p:nvPr/>
        </p:nvSpPr>
        <p:spPr>
          <a:xfrm>
            <a:off x="685800" y="2248500"/>
            <a:ext cx="777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INPUT/OUTPUT IN C++</a:t>
            </a:r>
            <a:endParaRPr b="0" i="0" sz="3000" u="none" cap="none" strike="noStrike">
              <a:solidFill>
                <a:srgbClr val="FFFFFF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6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2"/>
          <p:cNvSpPr txBox="1"/>
          <p:nvPr/>
        </p:nvSpPr>
        <p:spPr>
          <a:xfrm>
            <a:off x="7786175" y="4359512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710175" y="403700"/>
            <a:ext cx="5244900" cy="4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#include&lt;bits/stdc++.h&gt;</a:t>
            </a:r>
            <a:endParaRPr b="0" i="0" sz="27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using namespace std;</a:t>
            </a:r>
            <a:endParaRPr b="0" i="0" sz="27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int main() </a:t>
            </a:r>
            <a:endParaRPr b="0" i="0" sz="27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27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	int x; </a:t>
            </a:r>
            <a:endParaRPr b="1" i="0" sz="27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27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cin &gt;&gt; x;</a:t>
            </a:r>
            <a:endParaRPr b="0" i="0" sz="27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	cout &lt;&lt; x;</a:t>
            </a:r>
            <a:br>
              <a:rPr b="0" i="0" lang="en" sz="27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" sz="27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    return 0;</a:t>
            </a:r>
            <a:endParaRPr b="0" i="0" sz="27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27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7098875" y="999575"/>
            <a:ext cx="1690800" cy="887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b="0" i="0" sz="24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7148225" y="2328725"/>
            <a:ext cx="1690800" cy="940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b="0" i="0" sz="24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6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3"/>
          <p:cNvSpPr txBox="1"/>
          <p:nvPr/>
        </p:nvSpPr>
        <p:spPr>
          <a:xfrm>
            <a:off x="7840300" y="4401875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758875" y="252205"/>
            <a:ext cx="5297400" cy="39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05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#include&lt;bits/stdc++.h&gt;   </a:t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05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using namespace std;</a:t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05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int main()</a:t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05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05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     int a, b;</a:t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05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     float avg= 0;</a:t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05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cin&gt;&gt;a;                                  </a:t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05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cin&gt;&gt;b;</a:t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05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avg = (a + b) / 2;</a:t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05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cout &lt;&lt; avg;</a:t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05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return 0;</a:t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" sz="205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 }</a:t>
            </a:r>
            <a:endParaRPr b="0" i="0" sz="205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7231600" y="1005125"/>
            <a:ext cx="1632300" cy="908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INPUT</a:t>
            </a:r>
            <a:endParaRPr b="1" i="0" sz="2400" u="sng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252C33"/>
                </a:solidFill>
                <a:latin typeface="Raleway"/>
                <a:ea typeface="Raleway"/>
                <a:cs typeface="Raleway"/>
                <a:sym typeface="Raleway"/>
              </a:rPr>
              <a:t>4 5</a:t>
            </a:r>
            <a:endParaRPr b="0" i="0" sz="2400" u="none" cap="none" strike="noStrike">
              <a:solidFill>
                <a:srgbClr val="252C3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7260850" y="2355575"/>
            <a:ext cx="1603200" cy="908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OUTPUT</a:t>
            </a:r>
            <a:endParaRPr b="1" i="0" sz="2400" u="sng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252C33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2400" u="none" cap="none" strike="noStrike">
              <a:solidFill>
                <a:srgbClr val="252C3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6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4"/>
          <p:cNvSpPr txBox="1"/>
          <p:nvPr/>
        </p:nvSpPr>
        <p:spPr>
          <a:xfrm>
            <a:off x="7864332" y="4398800"/>
            <a:ext cx="414900" cy="4308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710175" y="230909"/>
            <a:ext cx="5244900" cy="4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#include&lt;bits/stdc++.h&gt;   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using namespace std;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main() {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int a, b;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float avg= 0;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cin&gt;&gt;a;                                  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cin&gt;&gt;b;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avg = (float)(a + b) / 2;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800" u="none" cap="none" strike="noStrike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//avg=((float)a+b)/2;</a:t>
            </a:r>
            <a:endParaRPr b="0" i="0" sz="1800" u="none" cap="none" strike="noStrike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800" u="none" cap="none" strike="noStrike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	//avg=(a+b)/2.0;</a:t>
            </a:r>
            <a:endParaRPr b="0" i="0" sz="1800" u="none" cap="none" strike="noStrike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cout &lt;&lt; avg;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return 0;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26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7141200" y="1417725"/>
            <a:ext cx="1667100" cy="933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4 5</a:t>
            </a:r>
            <a:endParaRPr b="0" i="0" sz="24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7129350" y="2792775"/>
            <a:ext cx="1690800" cy="933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4.5</a:t>
            </a:r>
            <a:endParaRPr b="0" i="0" sz="24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6"/>
            <a:ext cx="9143860" cy="514318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>
            <p:ph type="ctrTitle"/>
          </p:nvPr>
        </p:nvSpPr>
        <p:spPr>
          <a:xfrm>
            <a:off x="311700" y="1990828"/>
            <a:ext cx="8520600" cy="96931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CONDITIONALS</a:t>
            </a:r>
            <a:endParaRPr sz="30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6"/>
            <a:ext cx="9143860" cy="514318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>
            <p:ph type="ctrTitle"/>
          </p:nvPr>
        </p:nvSpPr>
        <p:spPr>
          <a:xfrm>
            <a:off x="311700" y="2001245"/>
            <a:ext cx="8520600" cy="93322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if - else STATEMENT</a:t>
            </a:r>
            <a:endParaRPr sz="30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6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7838128" y="4339192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710175" y="403700"/>
            <a:ext cx="5244900" cy="4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if(marks&gt;90)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// is true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MITHAI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// is false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KUTAYI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6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7786950" y="4322600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710175" y="251300"/>
            <a:ext cx="5244900" cy="4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#include&lt;bits/stdc++.h&gt;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using namespace std;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main() {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int a, b;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cin &gt;&gt; a &gt;&gt; b;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if(a &gt; b) {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	     cout &lt;&lt; a;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	}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else {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	     cout &lt;&lt; b;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 0;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7149000" y="1310950"/>
            <a:ext cx="1690800" cy="938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3 7</a:t>
            </a:r>
            <a:endParaRPr b="0" i="0" sz="24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7149000" y="2710725"/>
            <a:ext cx="1690800" cy="938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endParaRPr b="0" i="0" sz="24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6"/>
            <a:ext cx="9143860" cy="5143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>
            <p:ph type="ctrTitle"/>
          </p:nvPr>
        </p:nvSpPr>
        <p:spPr>
          <a:xfrm>
            <a:off x="246142" y="1924641"/>
            <a:ext cx="8520600" cy="95411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NESTED if - else</a:t>
            </a:r>
            <a:endParaRPr sz="30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6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7830106" y="4381375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973225" y="310075"/>
            <a:ext cx="5244900" cy="4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if(marks &gt;= 90) {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// is true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MACBOOK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 {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if(marks &gt; 40) {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7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PITAI</a:t>
            </a: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	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else{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7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GHAR SE NIKAL DIYA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6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7863560" y="4398800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710175" y="327500"/>
            <a:ext cx="5244900" cy="38685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#include&lt;bits/stdc++.h&gt;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using namespace std;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main() {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int a, b;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cin &gt;&gt; a &gt;&gt; b;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if(a &gt; b) {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	      cout &lt;&lt;a;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	}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else {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      if(b &gt; a)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            cout &lt;&lt; b;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      else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	            cout &lt;&lt; "Numbers are equal";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 0;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b="0"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871300" y="1069025"/>
            <a:ext cx="2948700" cy="938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7 7</a:t>
            </a:r>
            <a:endParaRPr b="0" i="0" sz="24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871300" y="2632552"/>
            <a:ext cx="2948700" cy="938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Numbers are equal</a:t>
            </a:r>
            <a:endParaRPr b="0" i="0" sz="22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6"/>
            <a:ext cx="9143860" cy="514318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>
            <p:ph type="ctrTitle"/>
          </p:nvPr>
        </p:nvSpPr>
        <p:spPr>
          <a:xfrm>
            <a:off x="1148773" y="2113150"/>
            <a:ext cx="65862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Else - If</a:t>
            </a:r>
            <a:endParaRPr sz="40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6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7850429" y="4373950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759155" y="536100"/>
            <a:ext cx="5244900" cy="37209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if(marks &gt; 90) {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// is true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MACBOOK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 if(marks &gt; 40) {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// is true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PITAI</a:t>
            </a:r>
            <a:endParaRPr b="0" i="0" sz="16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 {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// is false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GHAR SE NIKAL DIYA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7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7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6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7861792" y="4374542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714280" y="184004"/>
            <a:ext cx="5244900" cy="40470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#include&lt;bits/stdc++.h&gt;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using namespace std;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main() {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int a,b;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cin &gt;&gt; a &gt;&gt; b;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if(a &gt; b) 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cout &lt;&lt; a;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else if(a &lt; b) 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cout &lt;&lt; b; 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else  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cout&lt;&lt;"Nos. are equal";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return </a:t>
            </a:r>
            <a:r>
              <a:rPr b="0" i="0" lang="en" sz="19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6488550" y="393125"/>
            <a:ext cx="2197200" cy="907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8 4 </a:t>
            </a:r>
            <a:endParaRPr b="0" i="0" sz="24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6488550" y="1300325"/>
            <a:ext cx="2197200" cy="907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endParaRPr b="0" i="0" sz="22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6488550" y="2207525"/>
            <a:ext cx="2197200" cy="907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4 4</a:t>
            </a:r>
            <a:endParaRPr b="0" i="0" sz="24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6488550" y="3114725"/>
            <a:ext cx="2197200" cy="907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3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Nos. are equal</a:t>
            </a:r>
            <a:endParaRPr b="0" i="0" sz="21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35" y="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 txBox="1"/>
          <p:nvPr>
            <p:ph type="ctrTitle"/>
          </p:nvPr>
        </p:nvSpPr>
        <p:spPr>
          <a:xfrm>
            <a:off x="257233" y="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https://bit.ly/Bit5et_SI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7765406" y="4335420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28" title="Bit5e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0025" y="2127300"/>
            <a:ext cx="2170675" cy="217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ad85344ef_0_2"/>
          <p:cNvSpPr txBox="1"/>
          <p:nvPr/>
        </p:nvSpPr>
        <p:spPr>
          <a:xfrm>
            <a:off x="977250" y="210298"/>
            <a:ext cx="5561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2200" u="none" cap="none" strike="noStrike">
                <a:solidFill>
                  <a:srgbClr val="1A1A1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Temperature</a:t>
            </a:r>
            <a:endParaRPr b="1" i="0" sz="2200" u="none" cap="none" strike="noStrike">
              <a:solidFill>
                <a:srgbClr val="1A1A1A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43" name="Google Shape;243;g34ad85344ef_0_2"/>
          <p:cNvSpPr txBox="1"/>
          <p:nvPr/>
        </p:nvSpPr>
        <p:spPr>
          <a:xfrm>
            <a:off x="977250" y="1055250"/>
            <a:ext cx="64230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rPr>
              <a:t>You are given an integer T representing the current temperature in degrees Celsius. Based on the temperature, categorize the weather as Hot, Warm, Moderate, or Cold.</a:t>
            </a:r>
            <a:endParaRPr b="1" i="0" sz="2400" u="none" cap="none" strike="noStrike">
              <a:solidFill>
                <a:schemeClr val="accent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accent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https://bit.ly/4immeaQ</a:t>
            </a:r>
            <a:endParaRPr b="1" i="0" sz="2400" u="none" cap="none" strike="noStrike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4" name="Google Shape;244;g34ad85344ef_0_2"/>
          <p:cNvSpPr txBox="1"/>
          <p:nvPr/>
        </p:nvSpPr>
        <p:spPr>
          <a:xfrm>
            <a:off x="7781142" y="4374542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0164"/>
            <a:ext cx="9143860" cy="514318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>
            <p:ph type="ctrTitle"/>
          </p:nvPr>
        </p:nvSpPr>
        <p:spPr>
          <a:xfrm>
            <a:off x="311700" y="1888773"/>
            <a:ext cx="8520600" cy="86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SWITCH STATEMENTS</a:t>
            </a:r>
            <a:endParaRPr sz="30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6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728675" y="495900"/>
            <a:ext cx="5244900" cy="4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switch(</a:t>
            </a:r>
            <a:r>
              <a:rPr b="0" i="1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case x: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1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code block</a:t>
            </a:r>
            <a:endParaRPr b="0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break;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case y: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0" i="1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code block</a:t>
            </a:r>
            <a:endParaRPr b="0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break;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default: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0" i="1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code block</a:t>
            </a:r>
            <a:endParaRPr b="0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45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7855478" y="4351650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6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/>
        </p:nvSpPr>
        <p:spPr>
          <a:xfrm>
            <a:off x="741554" y="351746"/>
            <a:ext cx="3411300" cy="3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day = 3;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 (day) {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case 1: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cout &lt;&lt; "Monday";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break;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case 2: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cout &lt;&lt; "Tuesday";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break;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case 3: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cout &lt;&lt; "Wednesday";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break;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case 4: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cout &lt;&lt; "Thursday";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break;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4384625" y="495900"/>
            <a:ext cx="2985000" cy="3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 5: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cout &lt;&lt; "Friday";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break;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 6: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cout &lt;&lt; "Saturday";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break;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 7: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cout &lt;&lt; "Sunday";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break;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7874088" y="4324946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6"/>
            <a:ext cx="9143860" cy="514318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 txBox="1"/>
          <p:nvPr>
            <p:ph type="ctrTitle"/>
          </p:nvPr>
        </p:nvSpPr>
        <p:spPr>
          <a:xfrm>
            <a:off x="311700" y="2217434"/>
            <a:ext cx="8520600" cy="70863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ITERATION (LOOP)</a:t>
            </a:r>
            <a:endParaRPr sz="30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35" y="-1016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0"/>
          <p:cNvSpPr txBox="1"/>
          <p:nvPr/>
        </p:nvSpPr>
        <p:spPr>
          <a:xfrm>
            <a:off x="7761128" y="4321011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0"/>
          <p:cNvSpPr txBox="1"/>
          <p:nvPr/>
        </p:nvSpPr>
        <p:spPr>
          <a:xfrm>
            <a:off x="893700" y="378662"/>
            <a:ext cx="6215438" cy="36266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#include&lt;bits/stdc++.h&gt;</a:t>
            </a:r>
            <a:endParaRPr b="0" i="0" sz="1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using namespace std;</a:t>
            </a:r>
            <a:endParaRPr b="0" i="0" sz="1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int main()</a:t>
            </a:r>
            <a:endParaRPr b="0" i="0" sz="1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1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cout&lt;&lt;"Tareekh\n";</a:t>
            </a:r>
            <a:endParaRPr b="0" i="0" sz="1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cout&lt;&lt;"Tareekh\n";  </a:t>
            </a:r>
            <a:endParaRPr b="0" i="0" sz="1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cout&lt;&lt;"Tareekh\n";</a:t>
            </a:r>
            <a:endParaRPr b="0" i="0" sz="1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cout&lt;&lt;"Tareekh\n";</a:t>
            </a:r>
            <a:endParaRPr b="0" i="0" sz="1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cout&lt;&lt;"Tareekh\n";</a:t>
            </a:r>
            <a:endParaRPr b="0" i="0" sz="1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return 0;</a:t>
            </a:r>
            <a:endParaRPr b="0" i="0" sz="1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b="0" i="0" sz="18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t/>
            </a:r>
            <a:endParaRPr b="0" i="0" sz="205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5977975" y="529832"/>
            <a:ext cx="2976600" cy="510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0" name="Google Shape;280;p30"/>
          <p:cNvSpPr txBox="1"/>
          <p:nvPr/>
        </p:nvSpPr>
        <p:spPr>
          <a:xfrm>
            <a:off x="5977975" y="1031995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5977975" y="1442695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2" name="Google Shape;282;p30"/>
          <p:cNvSpPr txBox="1"/>
          <p:nvPr/>
        </p:nvSpPr>
        <p:spPr>
          <a:xfrm>
            <a:off x="5977975" y="1811832"/>
            <a:ext cx="2976600" cy="510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3" name="Google Shape;283;p30"/>
          <p:cNvSpPr txBox="1"/>
          <p:nvPr/>
        </p:nvSpPr>
        <p:spPr>
          <a:xfrm>
            <a:off x="5977975" y="2266498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5977975" y="2645160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35" y="-5080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1"/>
          <p:cNvSpPr txBox="1"/>
          <p:nvPr>
            <p:ph type="ctrTitle"/>
          </p:nvPr>
        </p:nvSpPr>
        <p:spPr>
          <a:xfrm>
            <a:off x="452500" y="341050"/>
            <a:ext cx="56184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LOOP</a:t>
            </a:r>
            <a:endParaRPr b="1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1"/>
          <p:cNvSpPr txBox="1"/>
          <p:nvPr/>
        </p:nvSpPr>
        <p:spPr>
          <a:xfrm>
            <a:off x="698180" y="1059600"/>
            <a:ext cx="5561100" cy="1995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#include&lt;bits/stdc++.h&gt;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using namespace std;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main()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for(int i=1; i&lt;=5; i=i+1)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{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    cout&lt;&lt;"Tareekh\n";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}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return 0;</a:t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21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92" name="Google Shape;292;p31"/>
          <p:cNvCxnSpPr/>
          <p:nvPr/>
        </p:nvCxnSpPr>
        <p:spPr>
          <a:xfrm flipH="1">
            <a:off x="2591544" y="1861570"/>
            <a:ext cx="5400" cy="73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" name="Google Shape;293;p31"/>
          <p:cNvCxnSpPr/>
          <p:nvPr/>
        </p:nvCxnSpPr>
        <p:spPr>
          <a:xfrm>
            <a:off x="2597137" y="1862501"/>
            <a:ext cx="1769743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31"/>
          <p:cNvCxnSpPr/>
          <p:nvPr/>
        </p:nvCxnSpPr>
        <p:spPr>
          <a:xfrm>
            <a:off x="3328178" y="2041899"/>
            <a:ext cx="4950" cy="54452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" name="Google Shape;295;p31"/>
          <p:cNvCxnSpPr/>
          <p:nvPr/>
        </p:nvCxnSpPr>
        <p:spPr>
          <a:xfrm>
            <a:off x="4107873" y="2243675"/>
            <a:ext cx="1500" cy="317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31"/>
          <p:cNvCxnSpPr>
            <a:endCxn id="297" idx="1"/>
          </p:cNvCxnSpPr>
          <p:nvPr/>
        </p:nvCxnSpPr>
        <p:spPr>
          <a:xfrm flipH="1" rot="10800000">
            <a:off x="3324573" y="2063350"/>
            <a:ext cx="1047900" cy="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31"/>
          <p:cNvCxnSpPr/>
          <p:nvPr/>
        </p:nvCxnSpPr>
        <p:spPr>
          <a:xfrm>
            <a:off x="4109373" y="2254599"/>
            <a:ext cx="263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31"/>
          <p:cNvSpPr txBox="1"/>
          <p:nvPr/>
        </p:nvSpPr>
        <p:spPr>
          <a:xfrm>
            <a:off x="4372473" y="1647700"/>
            <a:ext cx="135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Initialization</a:t>
            </a:r>
            <a:endParaRPr b="0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</a:t>
            </a:r>
            <a:endParaRPr b="0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Updation</a:t>
            </a:r>
            <a:endParaRPr b="0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9" name="Google Shape;299;p31"/>
          <p:cNvSpPr txBox="1"/>
          <p:nvPr/>
        </p:nvSpPr>
        <p:spPr>
          <a:xfrm>
            <a:off x="5977975" y="1191069"/>
            <a:ext cx="2976600" cy="510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0" name="Google Shape;300;p31"/>
          <p:cNvSpPr txBox="1"/>
          <p:nvPr/>
        </p:nvSpPr>
        <p:spPr>
          <a:xfrm>
            <a:off x="5977975" y="1632238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1" name="Google Shape;301;p31"/>
          <p:cNvSpPr txBox="1"/>
          <p:nvPr/>
        </p:nvSpPr>
        <p:spPr>
          <a:xfrm>
            <a:off x="5991873" y="2038325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2" name="Google Shape;302;p31"/>
          <p:cNvSpPr txBox="1"/>
          <p:nvPr/>
        </p:nvSpPr>
        <p:spPr>
          <a:xfrm>
            <a:off x="5977722" y="2419394"/>
            <a:ext cx="2976600" cy="510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3" name="Google Shape;303;p31"/>
          <p:cNvSpPr txBox="1"/>
          <p:nvPr/>
        </p:nvSpPr>
        <p:spPr>
          <a:xfrm>
            <a:off x="5977722" y="2836260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4" name="Google Shape;304;p31"/>
          <p:cNvSpPr txBox="1"/>
          <p:nvPr/>
        </p:nvSpPr>
        <p:spPr>
          <a:xfrm>
            <a:off x="5977722" y="3237019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5" name="Google Shape;305;p31"/>
          <p:cNvSpPr txBox="1"/>
          <p:nvPr/>
        </p:nvSpPr>
        <p:spPr>
          <a:xfrm>
            <a:off x="7730448" y="4350856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35" y="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2"/>
          <p:cNvSpPr txBox="1"/>
          <p:nvPr>
            <p:ph type="ctrTitle"/>
          </p:nvPr>
        </p:nvSpPr>
        <p:spPr>
          <a:xfrm>
            <a:off x="131783" y="314550"/>
            <a:ext cx="31458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WHILE LOOP</a:t>
            </a:r>
            <a:endParaRPr sz="3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2" name="Google Shape;312;p32"/>
          <p:cNvSpPr txBox="1"/>
          <p:nvPr/>
        </p:nvSpPr>
        <p:spPr>
          <a:xfrm>
            <a:off x="868690" y="931167"/>
            <a:ext cx="55611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#include&lt;bits/stdc++.h&gt;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using namespace std;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main() 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int i = 1;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while(i &lt;= 5) {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cout &lt;&lt; "Tareekh\n";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i = i + 1;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}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return 0;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}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313" name="Google Shape;313;p32"/>
          <p:cNvCxnSpPr/>
          <p:nvPr/>
        </p:nvCxnSpPr>
        <p:spPr>
          <a:xfrm flipH="1">
            <a:off x="2824540" y="2164675"/>
            <a:ext cx="824700" cy="3984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" name="Google Shape;314;p32"/>
          <p:cNvCxnSpPr/>
          <p:nvPr/>
        </p:nvCxnSpPr>
        <p:spPr>
          <a:xfrm rot="10800000">
            <a:off x="3277580" y="3395188"/>
            <a:ext cx="909900" cy="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32"/>
          <p:cNvSpPr txBox="1"/>
          <p:nvPr/>
        </p:nvSpPr>
        <p:spPr>
          <a:xfrm>
            <a:off x="4187480" y="3168000"/>
            <a:ext cx="16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Updation</a:t>
            </a:r>
            <a:endParaRPr b="0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6" name="Google Shape;316;p32"/>
          <p:cNvSpPr txBox="1"/>
          <p:nvPr/>
        </p:nvSpPr>
        <p:spPr>
          <a:xfrm>
            <a:off x="3277579" y="1656978"/>
            <a:ext cx="141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Initialization</a:t>
            </a:r>
            <a:endParaRPr b="0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317" name="Google Shape;317;p32"/>
          <p:cNvCxnSpPr>
            <a:stCxn id="316" idx="1"/>
          </p:cNvCxnSpPr>
          <p:nvPr/>
        </p:nvCxnSpPr>
        <p:spPr>
          <a:xfrm flipH="1">
            <a:off x="2401579" y="1857078"/>
            <a:ext cx="876000" cy="4068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32"/>
          <p:cNvSpPr txBox="1"/>
          <p:nvPr/>
        </p:nvSpPr>
        <p:spPr>
          <a:xfrm>
            <a:off x="3649240" y="1966140"/>
            <a:ext cx="141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</a:t>
            </a:r>
            <a:endParaRPr b="0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9" name="Google Shape;319;p32"/>
          <p:cNvSpPr txBox="1"/>
          <p:nvPr/>
        </p:nvSpPr>
        <p:spPr>
          <a:xfrm>
            <a:off x="5977975" y="1049679"/>
            <a:ext cx="2976600" cy="510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5977975" y="1546006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1" name="Google Shape;321;p32"/>
          <p:cNvSpPr txBox="1"/>
          <p:nvPr/>
        </p:nvSpPr>
        <p:spPr>
          <a:xfrm>
            <a:off x="5977975" y="1939904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2" name="Google Shape;322;p32"/>
          <p:cNvSpPr txBox="1"/>
          <p:nvPr/>
        </p:nvSpPr>
        <p:spPr>
          <a:xfrm>
            <a:off x="5977975" y="2313380"/>
            <a:ext cx="2976600" cy="510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3" name="Google Shape;323;p32"/>
          <p:cNvSpPr txBox="1"/>
          <p:nvPr/>
        </p:nvSpPr>
        <p:spPr>
          <a:xfrm>
            <a:off x="5977975" y="2811610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4" name="Google Shape;324;p32"/>
          <p:cNvSpPr txBox="1"/>
          <p:nvPr/>
        </p:nvSpPr>
        <p:spPr>
          <a:xfrm>
            <a:off x="5977975" y="3201287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5" name="Google Shape;325;p32"/>
          <p:cNvSpPr txBox="1"/>
          <p:nvPr/>
        </p:nvSpPr>
        <p:spPr>
          <a:xfrm>
            <a:off x="7721998" y="4343746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35" y="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/>
          <p:cNvSpPr txBox="1"/>
          <p:nvPr/>
        </p:nvSpPr>
        <p:spPr>
          <a:xfrm>
            <a:off x="8356825" y="4459775"/>
            <a:ext cx="4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3"/>
          <p:cNvSpPr txBox="1"/>
          <p:nvPr>
            <p:ph type="ctrTitle"/>
          </p:nvPr>
        </p:nvSpPr>
        <p:spPr>
          <a:xfrm>
            <a:off x="275200" y="346650"/>
            <a:ext cx="42555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DO-WHILE LOOP</a:t>
            </a:r>
            <a:endParaRPr sz="3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618375" y="480150"/>
            <a:ext cx="4910100" cy="41832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#include &lt;bits/stdc++.h&gt;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using namespace std;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main()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int i = 1;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do {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     cout &lt;&lt; "Tareekh\n";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     i = i + 1;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} while (i &lt;= 5);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return 0;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4032175" y="3363075"/>
            <a:ext cx="135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5977975" y="1262850"/>
            <a:ext cx="2976600" cy="510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4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5977975" y="1773400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7" name="Google Shape;337;p33"/>
          <p:cNvSpPr txBox="1"/>
          <p:nvPr/>
        </p:nvSpPr>
        <p:spPr>
          <a:xfrm>
            <a:off x="5977975" y="2175725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8" name="Google Shape;338;p33"/>
          <p:cNvSpPr txBox="1"/>
          <p:nvPr/>
        </p:nvSpPr>
        <p:spPr>
          <a:xfrm>
            <a:off x="5977975" y="2586425"/>
            <a:ext cx="2976600" cy="510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9" name="Google Shape;339;p33"/>
          <p:cNvSpPr txBox="1"/>
          <p:nvPr/>
        </p:nvSpPr>
        <p:spPr>
          <a:xfrm>
            <a:off x="5977975" y="2988688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0" name="Google Shape;340;p33"/>
          <p:cNvSpPr txBox="1"/>
          <p:nvPr/>
        </p:nvSpPr>
        <p:spPr>
          <a:xfrm>
            <a:off x="5977975" y="3357825"/>
            <a:ext cx="2976600" cy="41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Tareekh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1" name="Google Shape;341;p33"/>
          <p:cNvSpPr txBox="1"/>
          <p:nvPr/>
        </p:nvSpPr>
        <p:spPr>
          <a:xfrm>
            <a:off x="7698233" y="4357051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4a44363719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-89309"/>
            <a:ext cx="9143861" cy="514318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4a44363719_1_0"/>
          <p:cNvSpPr txBox="1"/>
          <p:nvPr>
            <p:ph idx="4294967295" type="ctrTitle"/>
          </p:nvPr>
        </p:nvSpPr>
        <p:spPr>
          <a:xfrm>
            <a:off x="395238" y="2713175"/>
            <a:ext cx="80379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FLOW DIAGRAMS FOR ITERATION</a:t>
            </a:r>
            <a:endParaRPr b="1" i="0" sz="3000" u="none" cap="none" strike="noStrike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35" y="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4"/>
          <p:cNvSpPr txBox="1"/>
          <p:nvPr/>
        </p:nvSpPr>
        <p:spPr>
          <a:xfrm>
            <a:off x="7731502" y="4342700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34"/>
          <p:cNvPicPr preferRelativeResize="0"/>
          <p:nvPr/>
        </p:nvPicPr>
        <p:blipFill rotWithShape="1">
          <a:blip r:embed="rId4">
            <a:alphaModFix/>
          </a:blip>
          <a:srcRect b="0" l="0" r="0" t="4204"/>
          <a:stretch/>
        </p:blipFill>
        <p:spPr>
          <a:xfrm>
            <a:off x="327200" y="129950"/>
            <a:ext cx="7819200" cy="413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35" y="0"/>
            <a:ext cx="9215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6"/>
          <p:cNvSpPr txBox="1"/>
          <p:nvPr/>
        </p:nvSpPr>
        <p:spPr>
          <a:xfrm>
            <a:off x="744500" y="1006137"/>
            <a:ext cx="52449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for(int i=1; i&lt;=5; i++){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if(i==3) break;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cout&lt;&lt;i&lt;&lt;endl;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744500" y="2703382"/>
            <a:ext cx="5244900" cy="15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for(int i=1;i&lt;=5;i++){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if(i==3) continue;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cout&lt;&lt;i&lt;&lt;endl;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85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85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2" name="Google Shape;362;p36"/>
          <p:cNvSpPr txBox="1"/>
          <p:nvPr>
            <p:ph type="ctrTitle"/>
          </p:nvPr>
        </p:nvSpPr>
        <p:spPr>
          <a:xfrm>
            <a:off x="304578" y="276475"/>
            <a:ext cx="75459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Break and Continue Statements</a:t>
            </a:r>
            <a:endParaRPr sz="3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7760593" y="4378306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6"/>
          <p:cNvSpPr txBox="1"/>
          <p:nvPr/>
        </p:nvSpPr>
        <p:spPr>
          <a:xfrm>
            <a:off x="5873903" y="1006137"/>
            <a:ext cx="2948700" cy="1203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0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0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0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b="0" i="0" sz="20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0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b="0" i="0" sz="20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5" name="Google Shape;365;p36"/>
          <p:cNvSpPr txBox="1"/>
          <p:nvPr/>
        </p:nvSpPr>
        <p:spPr>
          <a:xfrm>
            <a:off x="5873903" y="2371127"/>
            <a:ext cx="2948700" cy="1860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000" u="sng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endParaRPr b="1" i="0" sz="2000" u="sng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0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b="0" i="0" sz="20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0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b="0" i="0" sz="20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0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 b="0" i="0" sz="20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000" u="none" cap="none" strike="noStrike">
                <a:solidFill>
                  <a:srgbClr val="252C33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b="0" i="0" sz="2000" u="none" cap="none" strike="noStrike">
              <a:solidFill>
                <a:srgbClr val="252C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-71700"/>
            <a:ext cx="9215117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5"/>
          <p:cNvPicPr preferRelativeResize="0"/>
          <p:nvPr/>
        </p:nvPicPr>
        <p:blipFill rotWithShape="1">
          <a:blip r:embed="rId4">
            <a:alphaModFix/>
          </a:blip>
          <a:srcRect b="8464" l="0" r="0" t="0"/>
          <a:stretch/>
        </p:blipFill>
        <p:spPr>
          <a:xfrm>
            <a:off x="5698851" y="1652950"/>
            <a:ext cx="3048910" cy="255329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5"/>
          <p:cNvSpPr txBox="1"/>
          <p:nvPr/>
        </p:nvSpPr>
        <p:spPr>
          <a:xfrm>
            <a:off x="7811825" y="4290900"/>
            <a:ext cx="43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5"/>
          <p:cNvSpPr txBox="1"/>
          <p:nvPr/>
        </p:nvSpPr>
        <p:spPr>
          <a:xfrm>
            <a:off x="977250" y="210298"/>
            <a:ext cx="5561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2200" u="none" cap="none" strike="noStrike">
                <a:solidFill>
                  <a:srgbClr val="1A1A1A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ODD_SQUARES</a:t>
            </a:r>
            <a:endParaRPr b="1" i="0" sz="2200" u="none" cap="none" strike="noStrike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74" name="Google Shape;374;p35"/>
          <p:cNvSpPr txBox="1"/>
          <p:nvPr/>
        </p:nvSpPr>
        <p:spPr>
          <a:xfrm>
            <a:off x="977250" y="1055250"/>
            <a:ext cx="64230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accent5"/>
                </a:solidFill>
                <a:latin typeface="Verdana"/>
                <a:ea typeface="Verdana"/>
                <a:cs typeface="Verdana"/>
                <a:sym typeface="Verdana"/>
              </a:rPr>
              <a:t>Given an integer n . Find the sum of squares of first n odd positive numbers.The sum can go beyond the limit of an 32-bit integer so use 64-bit integer.</a:t>
            </a:r>
            <a:endParaRPr b="1" i="0" sz="2400" u="none" cap="none" strike="noStrike">
              <a:solidFill>
                <a:schemeClr val="accent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accent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https://bit.ly/4i4R5bv</a:t>
            </a:r>
            <a:endParaRPr b="1" i="0" sz="2400" u="none" cap="none" strike="noStrike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35" y="0"/>
            <a:ext cx="921512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375" y="0"/>
            <a:ext cx="4883576" cy="328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1375" y="-46800"/>
            <a:ext cx="4974300" cy="36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7"/>
          <p:cNvPicPr preferRelativeResize="0"/>
          <p:nvPr/>
        </p:nvPicPr>
        <p:blipFill rotWithShape="1">
          <a:blip r:embed="rId6">
            <a:alphaModFix/>
          </a:blip>
          <a:srcRect b="51634" l="11471" r="31313" t="15039"/>
          <a:stretch/>
        </p:blipFill>
        <p:spPr>
          <a:xfrm>
            <a:off x="2693825" y="2921513"/>
            <a:ext cx="2844600" cy="12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7"/>
          <p:cNvSpPr txBox="1"/>
          <p:nvPr/>
        </p:nvSpPr>
        <p:spPr>
          <a:xfrm>
            <a:off x="7765825" y="4351687"/>
            <a:ext cx="41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8750" y="4101700"/>
            <a:ext cx="930525" cy="289323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7"/>
          <p:cNvSpPr/>
          <p:nvPr/>
        </p:nvSpPr>
        <p:spPr>
          <a:xfrm>
            <a:off x="352425" y="2968625"/>
            <a:ext cx="809400" cy="80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